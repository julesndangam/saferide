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6400800" cy="6400800"/>
          </a:xfrm>
          <a:prstGeom prst="ellipse">
            <a:avLst/>
          </a:prstGeom>
          <a:solidFill>
            <a:srgbClr val="22D3EE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2C55E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560320"/>
            <a:ext cx="182880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>
                <a:solidFill>
                  <a:srgbClr val="E6ECF7"/>
                </a:solidFill>
                <a:latin typeface="Space Grotesk"/>
              </a:rPr>
              <a:t>SafeRide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22D3EE"/>
                </a:solidFill>
                <a:latin typeface="Inter"/>
              </a:rPr>
              <a:t>Every ride, checked. Every journey, safe.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Inter"/>
              </a:rPr>
              <a:t>Network Trust Score for Sub-Saharan ride-hailing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Powered by 7 CAMARA APIs via Nokia Network-as-Code  ·  Africa Ignite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4630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Inter"/>
              </a:rPr>
              <a:t>01  ·  Problem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CF7"/>
                </a:solidFill>
                <a:latin typeface="Space Grotesk"/>
              </a:rPr>
              <a:t>Trust is broken in African ride-hailing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7665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6ECF7"/>
                </a:solidFill>
                <a:latin typeface="Inter"/>
              </a:rPr>
              <a:t>▸  Sub-Saharan ride-hailing market: USD 14B by 2030 (GSMA).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6ECF7"/>
                </a:solidFill>
                <a:latin typeface="Inter"/>
              </a:rPr>
              <a:t>▸  Fake drivers using SIM-swapped accounts → assaults &amp; thefts.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6ECF7"/>
                </a:solidFill>
                <a:latin typeface="Inter"/>
              </a:rPr>
              <a:t>▸  Operational fraud: spoofed GPS to cheat allocation engines.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6ECF7"/>
                </a:solidFill>
                <a:latin typeface="Inter"/>
              </a:rPr>
              <a:t>▸  Service discontinuity: GPS / voice cut off mid-ride.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6ECF7"/>
                </a:solidFill>
                <a:latin typeface="Inter"/>
              </a:rPr>
              <a:t>▸  Existing apps (Bolt, Uber) only rely on subjective ratings.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783080"/>
            <a:ext cx="4023360" cy="4206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Inter"/>
              </a:rPr>
              <a:t>Key data (GSMA 2024 / CAMARA)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33172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49631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22D3EE"/>
                </a:solidFill>
                <a:latin typeface="Space Grotesk"/>
              </a:rPr>
              <a:t>+340%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108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Inter"/>
              </a:rPr>
              <a:t>SIM swap incidents (Sub-Saharan, 2023)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33756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50215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22D3EE"/>
                </a:solidFill>
                <a:latin typeface="Space Grotesk"/>
              </a:rPr>
              <a:t>1.2 B$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114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Inter"/>
              </a:rPr>
              <a:t>Mobile fraud losses (2023)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34340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450799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22D3EE"/>
                </a:solidFill>
                <a:latin typeface="Space Grotesk"/>
              </a:rPr>
              <a:t>42%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120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Inter"/>
              </a:rPr>
              <a:t>Trust in ride-hailing apps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SafeRide  ·  Africa Ignite Hackathon  ·  Nokia Network-as-Code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4630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Inter"/>
              </a:rPr>
              <a:t>02  ·  Proposed Solution &amp; API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CF7"/>
                </a:solidFill>
                <a:latin typeface="Space Grotesk"/>
              </a:rPr>
              <a:t>A Network Trust Score before &amp; during every 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Inter"/>
              </a:rPr>
              <a:t>SafeRide orchestrates 7 CAMARA APIs via Nokia Network-as-Code to compute a real-time score (0–100).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10972800" cy="777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Space Grotesk"/>
              </a:rPr>
              <a:t>SCR  =  SIM Swap × 35%  +  Location × 25%  +  Device × 20%  +  Number ×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2C55E"/>
                </a:solidFill>
                <a:latin typeface="Space Grotesk"/>
              </a:rPr>
              <a:t>70 –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22191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CF7"/>
                </a:solidFill>
                <a:latin typeface="Inter"/>
              </a:rPr>
              <a:t>Reliable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Ride allowed, standard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24612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Space Grotesk"/>
              </a:rPr>
              <a:t>40 – 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22191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CF7"/>
                </a:solidFill>
                <a:latin typeface="Inter"/>
              </a:rPr>
              <a:t>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1605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Offered with passenger warning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246120"/>
            <a:ext cx="3657600" cy="150876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  <a:latin typeface="Space Grotesk"/>
              </a:rPr>
              <a:t>0 – 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22191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CF7"/>
                </a:solidFill>
                <a:latin typeface="Inter"/>
              </a:rPr>
              <a:t>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1605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Driver excluded · SafeRide alert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292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SIM Swap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49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Inter"/>
              </a:rPr>
              <a:t>Anti-Fraud · MANDATORY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498348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50292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Number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349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Inter"/>
              </a:rPr>
              <a:t>Anti-Fraud · MANDATORY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498348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19" y="50292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Location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19" y="5349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Inter"/>
              </a:rPr>
              <a:t>Anti-Fraud · MANDATORY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19" y="498348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79" y="50292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Device Swap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79" y="5349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Inter"/>
              </a:rPr>
              <a:t>Anti-Fraud · MANDATORY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064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Quality on Demand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26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Inter"/>
              </a:rPr>
              <a:t>Connectivity · CORE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576072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58064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Congestion 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6126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Inter"/>
              </a:rPr>
              <a:t>Network Intelligence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59" y="5760720"/>
            <a:ext cx="2743200" cy="6858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19" y="58064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Geofencing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19" y="6126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Inter"/>
              </a:rPr>
              <a:t>Network Intelligence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SafeRide  ·  Africa Ignite Hackathon  ·  Nokia Network-as-Code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4630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Inter"/>
              </a:rPr>
              <a:t>03  · 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CF7"/>
                </a:solidFill>
                <a:latin typeface="Space Grotesk"/>
              </a:rPr>
              <a:t>Cloud-native, operator-agnostic, AI-orchestrated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1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Inter"/>
              </a:rPr>
              <a:t>Mobile / Web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599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React 18 + Vite + Leaflet + i18n FR/EN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65175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Inter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199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16351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Inter"/>
              </a:rPr>
              <a:t>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7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FastAPI (Python) · OpenAPI auto · CORS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52043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Inter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79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85031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Inter"/>
              </a:rPr>
              <a:t>Trust Agent (Agentic AI)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2335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Order APIs by region · explainable log · LLM-ready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38911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Inter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58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5371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Inter"/>
              </a:rPr>
              <a:t>Nokia Network-as-Code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9203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7 CAMARA APIs orchestrated in parallel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25779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Inter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49239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22391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Inter"/>
              </a:rPr>
              <a:t>Operator Network (MTN, Orange, Safaricom...)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1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Real-time, tamper-proof network signals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1874519"/>
            <a:ext cx="3200400" cy="429768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Inter"/>
              </a:rPr>
              <a:t>Data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377440"/>
            <a:ext cx="29260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PostgreSQL (drivers, rides, subs)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Redis (real-time sessions)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Firebase Cloud Messaging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OpenStreetMap + Leaflet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Chariow checkout (iframe + webhook)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Bearer-secured admin API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OpenTelemetry + Sentry (Phase 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SafeRide  ·  Africa Ignite Hackathon  ·  Nokia Network-as-Code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4630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Inter"/>
              </a:rPr>
              <a:t>04  ·  Business Model &amp; Monetization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CF7"/>
                </a:solidFill>
                <a:latin typeface="Space Grotesk"/>
              </a:rPr>
              <a:t>Four revenue streams, aligned with operators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CF7"/>
                </a:solidFill>
                <a:latin typeface="Inter"/>
              </a:rPr>
              <a:t>Ride commission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2C55E"/>
                </a:solidFill>
                <a:latin typeface="Space Grotesk"/>
              </a:rPr>
              <a:t>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vs 15–25% Bolt/Uber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199339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CF7"/>
                </a:solidFill>
                <a:latin typeface="Inter"/>
              </a:rPr>
              <a:t>Premium 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4231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2D3EE"/>
                </a:solidFill>
                <a:latin typeface="Space Grotesk"/>
              </a:rPr>
              <a:t>5,000 FCFA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971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via Chariow (Mobile Money, cards, crypto)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13631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CF7"/>
                </a:solidFill>
                <a:latin typeface="Inter"/>
              </a:rPr>
              <a:t>B2B Trust Score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399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Space Grotesk"/>
              </a:rPr>
              <a:t>Per-call licensing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8920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Logistics, fintech, delivery, healthcare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486400" cy="16916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3913631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CF7"/>
                </a:solidFill>
                <a:latin typeface="Inter"/>
              </a:rPr>
              <a:t>Operator partnership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343399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2C55E"/>
                </a:solidFill>
                <a:latin typeface="Space Grotesk"/>
              </a:rPr>
              <a:t>Revenue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89203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Per CAMARA API call (Open Gateway model)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  <a:latin typeface="Inter"/>
              </a:rPr>
              <a:t>Phase 2 projection · 10,000 active users  →  ≈ 29 MFCFA / month MRR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SafeRide  ·  Africa Ignite Hackathon  ·  Nokia Network-as-Code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4630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Inter"/>
              </a:rPr>
              <a:t>05  ·  Team Members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CF7"/>
                </a:solidFill>
                <a:latin typeface="Space Grotesk"/>
              </a:rPr>
              <a:t>A multidisciplinary team for telco-grade mobility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7568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6090F"/>
                </a:solidFill>
                <a:latin typeface="Space Grotesk"/>
              </a:rPr>
              <a:t>JN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11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CF7"/>
                </a:solidFill>
                <a:latin typeface="Inter"/>
              </a:rPr>
              <a:t>Jules Ndanga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31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Inter"/>
              </a:rPr>
              <a:t>Founder &amp; Tech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Backend FastAPI, Trust Agent orchestration, Nokia NaC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201168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7568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6090F"/>
                </a:solidFill>
                <a:latin typeface="Space Grotesk"/>
              </a:rPr>
              <a:t>P/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011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CF7"/>
                </a:solidFill>
                <a:latin typeface="Inter"/>
              </a:rPr>
              <a:t>Product / UX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331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Inter"/>
              </a:rPr>
              <a:t>Passenger &amp; Driver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9748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Bilingual flows (FR / EN), accessibility, mobile-first design.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82880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58200" y="201168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207568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6090F"/>
                </a:solidFill>
                <a:latin typeface="Space Grotesk"/>
              </a:rPr>
              <a:t>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011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CF7"/>
                </a:solidFill>
                <a:latin typeface="Inter"/>
              </a:rPr>
              <a:t>Telecom Partnership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33172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Inter"/>
              </a:rPr>
              <a:t>Operator relationships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69748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MTN Cameroon, Orange, Safaricom · CAMARA compliance · GSMA Open Gateway.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7024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6090F"/>
                </a:solidFill>
                <a:latin typeface="Space Grotesk"/>
              </a:rPr>
              <a:t>D/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2062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CF7"/>
                </a:solidFill>
                <a:latin typeface="Inter"/>
              </a:rPr>
              <a:t>Data / AI Engineer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5262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Inter"/>
              </a:rPr>
              <a:t>Trust scoring &amp; fraud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9204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LLM agent (Llama / Mistral), regional fraud signature learning, RAG.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023360"/>
            <a:ext cx="3611880" cy="196596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17720" y="4206240"/>
            <a:ext cx="548640" cy="5486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427024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6090F"/>
                </a:solidFill>
                <a:latin typeface="Space Grotesk"/>
              </a:rPr>
              <a:t>O&amp;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2062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CF7"/>
                </a:solidFill>
                <a:latin typeface="Inter"/>
              </a:rPr>
              <a:t>Operations &amp;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5262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D3EE"/>
                </a:solidFill>
                <a:latin typeface="Inter"/>
              </a:rPr>
              <a:t>Local rollout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489204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City managers (Douala, Yaoundé), data privacy (CDP, NDPR, DPA).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SafeRide  ·  Africa Ignite Hackathon  ·  Nokia Network-as-Code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4630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Inter"/>
              </a:rPr>
              <a:t>06  ·  Business Value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CF7"/>
                </a:solidFill>
                <a:latin typeface="Space Grotesk"/>
              </a:rPr>
              <a:t>Why SafeRide creates measurable value, fast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Inter"/>
              </a:rPr>
              <a:t>Passengers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CF7"/>
                </a:solidFill>
                <a:latin typeface="Inter"/>
              </a:rPr>
              <a:t>Reduced incidents, transparent trust, instant disclosure of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Inter"/>
              </a:rPr>
              <a:t>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CF7"/>
                </a:solidFill>
                <a:latin typeface="Inter"/>
              </a:rPr>
              <a:t>Network-verified reputation, priority allocation when Premium.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01168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Inter"/>
              </a:rPr>
              <a:t>Mobile operators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46888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CF7"/>
                </a:solidFill>
                <a:latin typeface="Inter"/>
              </a:rPr>
              <a:t>New revenue per CAMARA API call, demonstrate Open Gateway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Inter"/>
              </a:rPr>
              <a:t>Tech 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CF7"/>
                </a:solidFill>
                <a:latin typeface="Inter"/>
              </a:rPr>
              <a:t>Reusable Trust Score for fintech, logistics, delivery, healthcare.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11480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Inter"/>
              </a:rPr>
              <a:t>Regulators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57200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CF7"/>
                </a:solidFill>
                <a:latin typeface="Inter"/>
              </a:rPr>
              <a:t>Tamper-proof KYC for mobility — measurable fraud reduction.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93192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11480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Inter"/>
              </a:rPr>
              <a:t>12-month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4572000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CF7"/>
                </a:solidFill>
                <a:latin typeface="Inter"/>
              </a:rPr>
              <a:t>100,000 active users · fraud rate &lt; 0.5% · NPS &gt; 70.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SafeRide  ·  Africa Ignite Hackathon  ·  Nokia Network-as-Code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4630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Inter"/>
              </a:rPr>
              <a:t>07  ·  API Usage Summary &amp; Commercial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CF7"/>
                </a:solidFill>
                <a:latin typeface="Space Grotesk"/>
              </a:rPr>
              <a:t>7 CAMARA APIs, one operational 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55680" cy="50292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Inter"/>
              </a:rPr>
              <a:t>CAMARA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Inter"/>
              </a:rPr>
              <a:t>Network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Inter"/>
              </a:rPr>
              <a:t>Commercial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505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CF7"/>
                </a:solidFill>
                <a:latin typeface="Inter"/>
              </a:rPr>
              <a:t>SIM Swap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505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Detect SIM exchange &lt; 72h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4505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Inter"/>
              </a:rPr>
              <a:t>Eliminates account-takeover fraud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036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535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CF7"/>
                </a:solidFill>
                <a:latin typeface="Inter"/>
              </a:rPr>
              <a:t>Number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535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Bind phone ↔ carrier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9535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Inter"/>
              </a:rPr>
              <a:t>Strong KYC without paperwork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56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CF7"/>
                </a:solidFill>
                <a:latin typeface="Inter"/>
              </a:rPr>
              <a:t>Device Swap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56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Detect compromised 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456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Inter"/>
              </a:rPr>
              <a:t>Stops handset-based impersonation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9593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CF7"/>
                </a:solidFill>
                <a:latin typeface="Inter"/>
              </a:rPr>
              <a:t>Location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9593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Cross-check GPS vs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9593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Inter"/>
              </a:rPr>
              <a:t>Kills GPS-spoofing fraud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8912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62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CF7"/>
                </a:solidFill>
                <a:latin typeface="Inter"/>
              </a:rPr>
              <a:t>Quality on Demand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462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Guarantee 4G/5G during ride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4622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Inter"/>
              </a:rPr>
              <a:t>Reliable real-time tracking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9204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9651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CF7"/>
                </a:solidFill>
                <a:latin typeface="Inter"/>
              </a:rPr>
              <a:t>Congestion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9651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Anticipate network drops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9651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Inter"/>
              </a:rPr>
              <a:t>Proactive rerouting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9496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4681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CF7"/>
                </a:solidFill>
                <a:latin typeface="Inter"/>
              </a:rPr>
              <a:t>Geofencing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4681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Alert on perimeter exit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4681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2C55E"/>
                </a:solidFill>
                <a:latin typeface="Inter"/>
              </a:rPr>
              <a:t>Live safety alerting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Source: https://networkascode.nokia.io/products/digital-identity-and-anti-fraud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SafeRide  ·  Africa Ignite Hackathon  ·  Nokia Network-as-Code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463040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Inter"/>
              </a:rPr>
              <a:t>08  ·  Roadmap &amp;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CF7"/>
                </a:solidFill>
                <a:latin typeface="Space Grotesk"/>
              </a:rPr>
              <a:t>From hackathon to 5 cities in 18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Space Grotesk"/>
              </a:rPr>
              <a:t>Phase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20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Apr 24 – May 10,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Hackathon prototype · 7 CAMARA APIs simulated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Space Grotesk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7889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Jun – Aug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Douala pilot · 500 drivers · MTN partnership · real NaC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Space Grotesk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6576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Sep – Dec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Yaoundé + Lagos · 10,000 users · Premium launch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7772400" cy="77724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Space Grotesk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5262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ECF7"/>
                </a:solidFill>
                <a:latin typeface="Inter"/>
              </a:rPr>
              <a:t>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46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Dakar · Nairobi · Abidjan · B2B Trust Score license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1828800"/>
            <a:ext cx="3200400" cy="4251960"/>
          </a:xfrm>
          <a:prstGeom prst="roundRect">
            <a:avLst>
              <a:gd name="adj" fmla="val 6000"/>
            </a:avLst>
          </a:prstGeom>
          <a:solidFill>
            <a:srgbClr val="0B1424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1965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Inter"/>
              </a:rPr>
              <a:t>Funding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3774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CF7"/>
                </a:solidFill>
                <a:latin typeface="Space Grotesk"/>
              </a:rPr>
              <a:t>120 – 180 k€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9 months · Douala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520440"/>
            <a:ext cx="29260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Cloud + observability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Operator integrations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Driver acquisition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Compliance (CDP, RGPD)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E6ECF7"/>
                </a:solidFill>
                <a:latin typeface="Inter"/>
              </a:rPr>
              <a:t>▸  City managers x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D3EE"/>
                </a:solidFill>
                <a:latin typeface="Inter"/>
              </a:rPr>
              <a:t>SafeRide doesn’t just move passengers — it turns every ride into proof of network identity.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SafeRide  ·  Africa Ignite Hackathon  ·  Nokia Network-as-Code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Inter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